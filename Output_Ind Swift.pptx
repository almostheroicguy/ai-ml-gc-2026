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4017.6</c:v>
                </c:pt>
                <c:pt idx="1">
                  <c:v>4109.584</c:v>
                </c:pt>
                <c:pt idx="2">
                  <c:v>5022.477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PROJECT X | 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3716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9144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464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37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646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3C"/>
                </a:solidFill>
                <a:latin typeface="Arial"/>
              </a:defRPr>
            </a:pPr>
            <a:r>
              <a:t>Project X: A Leading Pharmaceutical Player with Diverse Product Portfolio</a:t>
            </a:r>
          </a:p>
          <a:p>
            <a:pPr>
              <a:spcBef>
                <a:spcPts val="600"/>
              </a:spcBef>
              <a:defRPr sz="1200" b="0">
                <a:solidFill>
                  <a:srgbClr val="282828"/>
                </a:solidFill>
                <a:latin typeface="Arial"/>
              </a:defRPr>
            </a:pPr>
            <a:r>
              <a:t>Project X is a prominent Indian pharmaceutical company with a comprehensive product range, significant global reach, and a strong commitment to quality, evidenced by numerous certifications.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•  Develops, manufactures, and markets a wide array of pharmaceutical products including APIs and herbal formulations across multiple divisions.</a:t>
            </a:r>
          </a:p>
        </p:txBody>
      </p:sp>
      <p:pic>
        <p:nvPicPr>
          <p:cNvPr id="9" name="Picture 8" descr="temp_Ind Swift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011680"/>
            <a:ext cx="3017520" cy="2011680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5669280" y="4206240"/>
            <a:ext cx="3017520" cy="1005840"/>
          </a:xfrm>
          <a:prstGeom prst="rect">
            <a:avLst/>
          </a:prstGeom>
          <a:solidFill>
            <a:srgbClr val="F5F7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900" b="1">
                <a:solidFill>
                  <a:srgbClr val="0A193C"/>
                </a:solidFill>
                <a:latin typeface="Arial"/>
              </a:defRPr>
            </a:pPr>
            <a:r>
              <a:t>KEY CERTIFICATIONS</a:t>
            </a:r>
          </a:p>
          <a:p>
            <a:pPr>
              <a:defRPr sz="900" b="0">
                <a:solidFill>
                  <a:srgbClr val="228B22"/>
                </a:solidFill>
                <a:latin typeface="Arial"/>
              </a:defRPr>
            </a:pPr>
            <a:r>
              <a:t>✓ ISO 9001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394960"/>
            <a:ext cx="8229600" cy="9144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C8C8C8"/>
                </a:solidFill>
                <a:latin typeface="Arial"/>
              </a:defRPr>
            </a:pPr>
            <a:r>
              <a:t>GLOBAL REACH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45+ Countries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486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C8C8C8"/>
                </a:solidFill>
                <a:latin typeface="Arial"/>
              </a:defRPr>
            </a:pPr>
            <a:r>
              <a:t>INDUSTRY RANK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Top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486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C8C8C8"/>
                </a:solidFill>
                <a:latin typeface="Arial"/>
              </a:defRPr>
            </a:pPr>
            <a:r>
              <a:t>WORKFORCE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500+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FINANCIAL &amp; OPERATIONAL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3716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9144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464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37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646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6464"/>
                </a:solidFill>
                <a:latin typeface="Arial"/>
              </a:defRPr>
            </a:pPr>
            <a:r>
              <a:t>REVENUE (LATEST)</a:t>
            </a:r>
          </a:p>
          <a:p>
            <a:pPr>
              <a:spcBef>
                <a:spcPts val="1000"/>
              </a:spcBef>
              <a:defRPr sz="2200" b="1">
                <a:solidFill>
                  <a:srgbClr val="0A193C"/>
                </a:solidFill>
                <a:latin typeface="Arial"/>
              </a:defRPr>
            </a:pPr>
            <a:r>
              <a:t>5022.48 Mn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6464"/>
                </a:solidFill>
                <a:latin typeface="Arial"/>
              </a:defRPr>
            </a:pPr>
            <a:r>
              <a:t>EBITDA</a:t>
            </a:r>
          </a:p>
          <a:p>
            <a:pPr>
              <a:spcBef>
                <a:spcPts val="1000"/>
              </a:spcBef>
              <a:defRPr sz="2200" b="1">
                <a:solidFill>
                  <a:srgbClr val="0A193C"/>
                </a:solidFill>
                <a:latin typeface="Arial"/>
              </a:defRPr>
            </a:pPr>
            <a:r>
              <a:t>485.14 Mn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548640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193C"/>
                </a:solidFill>
                <a:latin typeface="Arial"/>
              </a:defRPr>
            </a:pPr>
            <a:r>
              <a:t>Revenue Trajectory (INR Cr)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383280" y="1828800"/>
          <a:ext cx="512064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ight Arrow 11"/>
          <p:cNvSpPr/>
          <p:nvPr/>
        </p:nvSpPr>
        <p:spPr>
          <a:xfrm>
            <a:off x="4114800" y="2286000"/>
            <a:ext cx="1371600" cy="365760"/>
          </a:xfrm>
          <a:prstGeom prst="rightArrow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CAGR: 11.8%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KEY INVESTMENT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3716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9144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464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37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646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40233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/>
          <a:lstStyle/>
          <a:p>
            <a:pPr algn="ctr">
              <a:defRPr sz="1200" b="0">
                <a:solidFill>
                  <a:srgbClr val="282828"/>
                </a:solidFill>
                <a:latin typeface="Arial"/>
              </a:defRPr>
            </a:pPr>
            <a:r>
              <a:t>Strong revenue growth from 2022 to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371600"/>
            <a:ext cx="40233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/>
          <a:lstStyle/>
          <a:p>
            <a:pPr algn="ctr">
              <a:defRPr sz="1200" b="0">
                <a:solidFill>
                  <a:srgbClr val="282828"/>
                </a:solidFill>
                <a:latin typeface="Arial"/>
              </a:defRPr>
            </a:pPr>
            <a:r>
              <a:t>Extensive product portfolio covering various therapeutic classes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371600"/>
            <a:ext cx="54864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40233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/>
          <a:lstStyle/>
          <a:p>
            <a:pPr algn="ctr">
              <a:defRPr sz="1200" b="0">
                <a:solidFill>
                  <a:srgbClr val="282828"/>
                </a:solidFill>
                <a:latin typeface="Arial"/>
              </a:defRPr>
            </a:pPr>
            <a:r>
              <a:t>Global presence with exports to 45 countries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54864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3840480"/>
            <a:ext cx="40233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/>
          <a:lstStyle/>
          <a:p>
            <a:pPr algn="ctr">
              <a:defRPr sz="1200" b="0">
                <a:solidFill>
                  <a:srgbClr val="282828"/>
                </a:solidFill>
                <a:latin typeface="Arial"/>
              </a:defRPr>
            </a:pPr>
            <a:r>
              <a:t>Multiple quality certifications (ISO, WHO GMP, USFDA)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3840480"/>
            <a:ext cx="54864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