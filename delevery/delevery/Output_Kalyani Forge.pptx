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PROJECT X |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3C"/>
                </a:solidFill>
                <a:latin typeface="Arial"/>
              </a:defRPr>
            </a:pPr>
            <a:r>
              <a:t>Investment Thesis</a:t>
            </a:r>
          </a:p>
          <a:p>
            <a:pPr>
              <a:spcBef>
                <a:spcPts val="600"/>
              </a:spcBef>
              <a:defRPr sz="1200" b="0">
                <a:solidFill>
                  <a:srgbClr val="282828"/>
                </a:solidFill>
                <a:latin typeface="Arial"/>
              </a:defRPr>
            </a:pPr>
            <a:r>
              <a:t>Project X is a leading Indian engineering company specializing in high-quality forged, machined, and assembled products with a strong global presence and commitment to innovation.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•  Specializes in high-quality forged, machined, and assembled products for industries like automotive, construction, and power generation, backed by over three decades of expertise [79da4cdd].</a:t>
            </a:r>
          </a:p>
          <a:p>
            <a:pPr>
              <a:spcAft>
                <a:spcPts val="12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•  Demonstrates strong operational performance with record new business order wins in FY25 totaling ₹115 crores and strategic technology adoption through SAP ERP implementation [0eea328f], [bf62262f].</a:t>
            </a:r>
          </a:p>
        </p:txBody>
      </p:sp>
      <p:pic>
        <p:nvPicPr>
          <p:cNvPr id="9" name="Picture 8" descr="temp_Kalyani Forg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11680"/>
            <a:ext cx="3017520" cy="201168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457200" y="5394960"/>
            <a:ext cx="8229600" cy="9144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GLOBAL REACH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45+ Countries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INDUSTRY RANK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Top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WORKFORCE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500+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FINANCIAL &amp; OPERATIONAL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6464"/>
                </a:solidFill>
                <a:latin typeface="Arial"/>
              </a:defRPr>
            </a:pPr>
            <a:r>
              <a:t>REVENUE (LATEST)</a:t>
            </a:r>
          </a:p>
          <a:p>
            <a:pPr>
              <a:spcBef>
                <a:spcPts val="1000"/>
              </a:spcBef>
              <a:defRPr sz="2200" b="1">
                <a:solidFill>
                  <a:srgbClr val="0A193C"/>
                </a:solidFill>
                <a:latin typeface="Arial"/>
              </a:defRPr>
            </a:pPr>
            <a:r>
              <a:t>2366.5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6464"/>
                </a:solidFill>
                <a:latin typeface="Arial"/>
              </a:defRPr>
            </a:pPr>
            <a:r>
              <a:t>EBITDA</a:t>
            </a:r>
          </a:p>
          <a:p>
            <a:pPr>
              <a:spcBef>
                <a:spcPts val="1000"/>
              </a:spcBef>
              <a:defRPr sz="2200" b="1">
                <a:solidFill>
                  <a:srgbClr val="0A193C"/>
                </a:solidFill>
                <a:latin typeface="Arial"/>
              </a:defRPr>
            </a:pPr>
            <a:r>
              <a:t>240.0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KEY INVESTMENT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Growth: Potential for over 25% annual revenue growth, supported by a target to grow exports to 50% of total revenues after an 11% increase in FY25, and record new order wins of ₹115 crores in FY25, including a new MNC customer [6bc4b077], [0eea328f], [bf62262f].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37160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Margins: Achieved the highest profit after tax in 10 years (₹83 crores in FY25) and is implementing cost-control measures for enhanced operational efficiency to further improve operating margins [0eea328f], [6bc4b077].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7160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Scale: Operates with five plants as of May 2025, leveraging over three decades of expertise and maintaining a strong global presence with a subsidiary in Germany and operations extending to the United States [bf62262f], [79da4cdd], [3c7321a2].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